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72" r:id="rId3"/>
    <p:sldId id="273" r:id="rId4"/>
    <p:sldId id="274" r:id="rId5"/>
    <p:sldId id="275" r:id="rId6"/>
    <p:sldId id="276" r:id="rId7"/>
    <p:sldId id="277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245D44-4A18-4CC9-98D5-2F657D279A42}" v="22" dt="2026-04-02T19:47:28.0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124A91-17F1-4DF5-8903-64922157000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E5CB1-18F4-4EB4-A3D2-94C480A80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29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E5CB1-18F4-4EB4-A3D2-94C480A80C2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77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1F5A5-0066-D977-456B-E8907F7FC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AF5D9A-CEBA-B0E0-BA04-40D19AF452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6BC7D-9807-34B9-9B41-898C9676A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EEAFD-D92B-46D5-9B6A-D1C62AC67FB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84A05-B532-9E6E-08B8-6648D2D0C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D020C-1D3F-22E3-AA53-B448B5382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A1396-59F0-4BE9-A311-A6F51515F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41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C3596-C8BE-9713-46CF-525A80616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ECE9C-C9D9-049E-ABB8-8ECED6602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213D8-EED6-8423-2FE5-AF5B0B24E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EEAFD-D92B-46D5-9B6A-D1C62AC67FB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E518A-A5BF-7DBA-B9AA-079FD98BA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4222A-7D92-CBA5-32F2-1C1AA57E2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A1396-59F0-4BE9-A311-A6F51515F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38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5961B-911C-7869-C549-635A74D2A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C4198-974C-E0D3-C4DD-608974F9D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0F7E9-E156-15D1-DAFD-F565CEEA7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EEAFD-D92B-46D5-9B6A-D1C62AC67FB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847BF-4125-B3C8-5001-312BCE983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9CA07-47D4-0B59-9459-AD008CFCB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A1396-59F0-4BE9-A311-A6F51515F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6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E8BB1-2069-7579-9822-FCC9C861C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9993C-4654-0203-80B7-783DFFBD6B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44E49B-08B9-F78E-9051-78EF4E2EA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BD3F7-B5E4-1739-C571-1385E62E6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EEAFD-D92B-46D5-9B6A-D1C62AC67FB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49404-F96E-0C91-5531-3ABF90EAC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74EE62-3CD7-EE15-AC10-B558CB9A5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A1396-59F0-4BE9-A311-A6F51515F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972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F5773-F8BF-B574-1693-6F68F52A2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773B2-0310-F708-2CB2-125327099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F618DB-9D50-EF10-67B5-40D6B0C65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C775A5-253C-5DC4-0D86-E4280B4A07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30D212-C86A-FD4F-8557-24A8B46DD6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D97C35-E2F5-02A6-2EE3-D6F84B9A4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EEAFD-D92B-46D5-9B6A-D1C62AC67FB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9E71A2-65C6-0CC4-7D01-A71B02F1D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E56083-3F4A-C776-678E-81D60A7B1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A1396-59F0-4BE9-A311-A6F51515F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751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D0E08-CE3E-F30F-E40B-41DED4023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7E44E0-0A08-526F-5A7D-4B60162F6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EEAFD-D92B-46D5-9B6A-D1C62AC67FB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BEE3D0-E7F5-96BD-9175-5A53AD658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FDCE1-2C1D-1FFA-A4FF-B88E73B44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A1396-59F0-4BE9-A311-A6F51515F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17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0DA895-5A7E-DCDB-CE4F-2CD041B27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EEAFD-D92B-46D5-9B6A-D1C62AC67FB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8FE430-511C-67AF-36E2-5EF3ADA81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B2D59-57C3-3938-19AD-EE5B5CCCF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A1396-59F0-4BE9-A311-A6F51515F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44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917B7-7B4A-4700-B294-2EDAEF68E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7F0F3-B0A6-3EB2-CB71-C4C819B10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F227C5-D70B-F0B9-CD0F-F34D25131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0882B-4793-79B8-03FE-7A9CF2F28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EEAFD-D92B-46D5-9B6A-D1C62AC67FB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4612C5-4071-09E9-EEA8-31EFE4828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F1F7DD-8AF3-13C0-F593-05EFA16BB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A1396-59F0-4BE9-A311-A6F51515F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321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BAA51-327B-4A5E-1E8D-A09EB0CF4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18C941-8E9E-DB6E-4BCA-062C04514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85C74-B4F3-D16F-FD17-1182E15AF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C33B4-0E42-723A-E56A-39913C435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EEAFD-D92B-46D5-9B6A-D1C62AC67FB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F82A0-D1B2-4636-913F-38E54BCC3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780F7-F65B-9DA7-8980-E5499897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A1396-59F0-4BE9-A311-A6F51515F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101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80870-706B-C989-F822-1A98C418E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E3E254-ED89-2850-5E6D-8D6C2F5CA1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1CD96-D079-8118-A687-26B3A0E83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EEAFD-D92B-46D5-9B6A-D1C62AC67FB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934C5-31FA-A442-336F-F8D0B9B6C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CE9EE-1770-F788-D213-458A7DFCA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A1396-59F0-4BE9-A311-A6F51515F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849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F9B056-19BF-591A-B023-65A6B234A9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B9EA17-3010-FDB3-2FD8-D67CB3EC8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94542-0899-0942-5AEA-6B878A0F2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EEAFD-D92B-46D5-9B6A-D1C62AC67FB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5FE8A-C127-E2ED-AB07-46B698BC6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F63FF-3C0C-7C26-C82B-F1DECB55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A1396-59F0-4BE9-A311-A6F51515F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760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E6744A-DA44-344A-0F4C-78CA4A038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FB5AE-15F3-7994-BFBC-945A1A922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53754-05BB-23F9-9434-1A8C29203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EEEAFD-D92B-46D5-9B6A-D1C62AC67FB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A5058-3B77-C8B3-A89E-CA064DD793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28D2D-229D-254B-88A6-DDC967353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9A1396-59F0-4BE9-A311-A6F51515F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41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SQ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library/sqlite3.html#sqlite3-tutoria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isharanipraveen/EnvironmentMonitoringSystem.git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html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isharanipraveen/FlaskExample.git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1A49E-72A8-7B1F-3FEB-C9945D15EC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CLC – Day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1C5BD9-C051-1AAF-4B29-E0A2B3B056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SQLite &amp; Flask</a:t>
            </a:r>
          </a:p>
        </p:txBody>
      </p:sp>
    </p:spTree>
    <p:extLst>
      <p:ext uri="{BB962C8B-B14F-4D97-AF65-F5344CB8AC3E}">
        <p14:creationId xmlns:p14="http://schemas.microsoft.com/office/powerpoint/2010/main" val="1244212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98D22-D812-81DD-F529-67DF09867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Database - SQLite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C0E8E-23DB-770E-3E49-C173790BA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Relational databases</a:t>
            </a:r>
            <a:r>
              <a:rPr lang="en-US" dirty="0"/>
              <a:t> provide a way to store structured data in tables and establish relationships between those tables.</a:t>
            </a:r>
          </a:p>
          <a:p>
            <a:endParaRPr lang="en-US" dirty="0"/>
          </a:p>
          <a:p>
            <a:r>
              <a:rPr lang="en-US" dirty="0"/>
              <a:t>They usually use </a:t>
            </a:r>
            <a:r>
              <a:rPr lang="en-US" dirty="0">
                <a:hlinkClick r:id="rId2"/>
              </a:rPr>
              <a:t>Structured Query Language (SQL)</a:t>
            </a:r>
            <a:r>
              <a:rPr lang="en-US" dirty="0"/>
              <a:t> as the primary way to interact with the data.</a:t>
            </a:r>
          </a:p>
          <a:p>
            <a:endParaRPr lang="en-US" dirty="0"/>
          </a:p>
          <a:p>
            <a:r>
              <a:rPr lang="en-US" dirty="0"/>
              <a:t>An SQLite database provides support for interacting with the data table using SQL.</a:t>
            </a:r>
          </a:p>
          <a:p>
            <a:endParaRPr lang="en-US" dirty="0"/>
          </a:p>
          <a:p>
            <a:r>
              <a:rPr lang="en-US" dirty="0"/>
              <a:t>SQL is a </a:t>
            </a:r>
            <a:r>
              <a:rPr lang="en-US" b="1" dirty="0"/>
              <a:t>declarative language</a:t>
            </a:r>
            <a:r>
              <a:rPr lang="en-US" dirty="0"/>
              <a:t> used to create, manage, and query the data contained in a database.</a:t>
            </a:r>
          </a:p>
        </p:txBody>
      </p:sp>
    </p:spTree>
    <p:extLst>
      <p:ext uri="{BB962C8B-B14F-4D97-AF65-F5344CB8AC3E}">
        <p14:creationId xmlns:p14="http://schemas.microsoft.com/office/powerpoint/2010/main" val="1079625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FF750-9720-338E-880D-43B5DD772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Database With SQL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C1894-4099-D600-3A90-613970DA8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Data is stored in the database in two-dimensional table structures. </a:t>
            </a:r>
          </a:p>
          <a:p>
            <a:endParaRPr lang="en-US" dirty="0"/>
          </a:p>
          <a:p>
            <a:r>
              <a:rPr lang="en-US" dirty="0"/>
              <a:t>Each table consists of rows of </a:t>
            </a:r>
            <a:r>
              <a:rPr lang="en-US" b="1" dirty="0"/>
              <a:t>records</a:t>
            </a:r>
            <a:r>
              <a:rPr lang="en-US" dirty="0"/>
              <a:t>, and each record consists of columns, or </a:t>
            </a:r>
            <a:r>
              <a:rPr lang="en-US" b="1" dirty="0"/>
              <a:t>fields</a:t>
            </a:r>
            <a:r>
              <a:rPr lang="en-US" dirty="0"/>
              <a:t>, containing data.</a:t>
            </a:r>
          </a:p>
          <a:p>
            <a:endParaRPr lang="en-US" dirty="0"/>
          </a:p>
          <a:p>
            <a:r>
              <a:rPr lang="en-US" dirty="0"/>
              <a:t>The data contained in the fields is of pre-defined types, including text, integers, floats etc.</a:t>
            </a:r>
          </a:p>
          <a:p>
            <a:endParaRPr lang="en-US" dirty="0"/>
          </a:p>
          <a:p>
            <a:r>
              <a:rPr lang="en-US" dirty="0"/>
              <a:t>Each record in the table has a </a:t>
            </a:r>
            <a:r>
              <a:rPr lang="en-US" b="1" dirty="0"/>
              <a:t>primary key</a:t>
            </a:r>
            <a:r>
              <a:rPr lang="en-US" dirty="0"/>
              <a:t> defined to give a record a unique identifier.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28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F2DFA-96BF-23A8-D7B2-DBA643FE0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Database With SQL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F0BAD-1354-482F-C96B-5DEEA891D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98319"/>
          </a:xfrm>
        </p:spPr>
        <p:txBody>
          <a:bodyPr/>
          <a:lstStyle/>
          <a:p>
            <a:r>
              <a:rPr lang="en-US" dirty="0"/>
              <a:t>The database engine itself often generates the primary key as an incrementing integer value for every record inserted into the database table.</a:t>
            </a:r>
          </a:p>
        </p:txBody>
      </p:sp>
    </p:spTree>
    <p:extLst>
      <p:ext uri="{BB962C8B-B14F-4D97-AF65-F5344CB8AC3E}">
        <p14:creationId xmlns:p14="http://schemas.microsoft.com/office/powerpoint/2010/main" val="2546313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63592-BC7E-18B8-E244-25CED94DF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Creating Tables With SQL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9D67F-20F6-B0EF-7BC0-2B1E0D56C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CREATE TABLE IF NOT EXISTS </a:t>
            </a:r>
            <a:r>
              <a:rPr lang="en-US" b="1" dirty="0" err="1"/>
              <a:t>temperature_log</a:t>
            </a:r>
            <a:r>
              <a:rPr lang="en-US" b="1" dirty="0"/>
              <a:t> 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  id INTEGER PRIMARY KEY AUTOINCREMENT,</a:t>
            </a:r>
          </a:p>
          <a:p>
            <a:pPr marL="0" indent="0">
              <a:buNone/>
            </a:pPr>
            <a:r>
              <a:rPr lang="en-US" dirty="0"/>
              <a:t>    temperature REAL,</a:t>
            </a:r>
          </a:p>
          <a:p>
            <a:pPr marL="0" indent="0">
              <a:buNone/>
            </a:pPr>
            <a:r>
              <a:rPr lang="en-US" dirty="0"/>
              <a:t>    timestamp TEXT</a:t>
            </a:r>
          </a:p>
          <a:p>
            <a:pPr marL="0" indent="0">
              <a:buNone/>
            </a:pP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database engine determines how to do this.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295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9C64A-987F-3043-80AD-422AF16EC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43DBA-5EA6-35B3-1E0F-0B4CACCCA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</a:t>
            </a:r>
            <a:r>
              <a:rPr lang="en-US" u="sng" dirty="0"/>
              <a:t> </a:t>
            </a:r>
            <a:r>
              <a:rPr lang="en-US" dirty="0"/>
              <a:t>*</a:t>
            </a:r>
            <a:r>
              <a:rPr lang="en-US" u="sng" dirty="0"/>
              <a:t> </a:t>
            </a:r>
            <a:r>
              <a:rPr lang="en-US" dirty="0"/>
              <a:t>FROM</a:t>
            </a:r>
            <a:r>
              <a:rPr lang="en-US" u="sng" dirty="0"/>
              <a:t> </a:t>
            </a:r>
            <a:r>
              <a:rPr lang="en-US" b="1" dirty="0" err="1"/>
              <a:t>temperature_log</a:t>
            </a:r>
            <a:r>
              <a:rPr lang="en-US" b="1" dirty="0"/>
              <a:t> 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INSERT INTO </a:t>
            </a:r>
            <a:r>
              <a:rPr lang="en-US" b="1" dirty="0" err="1"/>
              <a:t>temperature_log</a:t>
            </a:r>
            <a:r>
              <a:rPr lang="en-US" b="1" dirty="0"/>
              <a:t> </a:t>
            </a:r>
            <a:r>
              <a:rPr lang="en-US" dirty="0"/>
              <a:t>(temperature, timestamp) VALUES (?, ?)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sqlite3 — DB-API 2.0 interface for SQLite databases — Python 3.14.3 documentation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904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178EF-A7F7-7588-91C1-DD67ED3C5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Python project using SQLite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390C5-6F3C-70A6-851E-99B151C68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2399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https://github.com/nisharanipraveen/EnvironmentMonitoringSystem.git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64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7DBBF-80F1-94A6-BA8D-066DAF618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Creating a Flask Web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54430-7A02-974D-56EF-ADB70179C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Flask is a powerful and flexible micro web framework for Python.</a:t>
            </a:r>
          </a:p>
          <a:p>
            <a:r>
              <a:rPr lang="en-US" dirty="0"/>
              <a:t>Ideal for both small and large web projects.</a:t>
            </a:r>
          </a:p>
        </p:txBody>
      </p:sp>
    </p:spTree>
    <p:extLst>
      <p:ext uri="{BB962C8B-B14F-4D97-AF65-F5344CB8AC3E}">
        <p14:creationId xmlns:p14="http://schemas.microsoft.com/office/powerpoint/2010/main" val="3084201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5730C-6DA1-2179-2A39-D2958CC5E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Set up a Flask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4130D-2ABE-3719-B15A-1F38A9E0F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Create a folder </a:t>
            </a:r>
            <a:r>
              <a:rPr lang="en-US" b="1" dirty="0" err="1"/>
              <a:t>FlaskExample</a:t>
            </a:r>
            <a:endParaRPr lang="en-US" b="1" dirty="0"/>
          </a:p>
          <a:p>
            <a:r>
              <a:rPr lang="en-US" dirty="0"/>
              <a:t> Open the folder </a:t>
            </a:r>
            <a:r>
              <a:rPr lang="en-US" b="1" dirty="0" err="1"/>
              <a:t>FlaskExample</a:t>
            </a:r>
            <a:r>
              <a:rPr lang="en-US" b="1" dirty="0"/>
              <a:t> </a:t>
            </a:r>
            <a:r>
              <a:rPr lang="en-US" dirty="0"/>
              <a:t>in VS Code</a:t>
            </a:r>
          </a:p>
          <a:p>
            <a:r>
              <a:rPr lang="en-US" dirty="0"/>
              <a:t>Create a virtual environment (Optional)</a:t>
            </a:r>
          </a:p>
          <a:p>
            <a:pPr marL="457200" lvl="1" indent="0">
              <a:buNone/>
            </a:pPr>
            <a:r>
              <a:rPr lang="en-US" dirty="0"/>
              <a:t>python -m </a:t>
            </a:r>
            <a:r>
              <a:rPr lang="en-US" dirty="0" err="1"/>
              <a:t>venv</a:t>
            </a:r>
            <a:r>
              <a:rPr lang="en-US" dirty="0"/>
              <a:t> </a:t>
            </a:r>
            <a:r>
              <a:rPr lang="en-US" dirty="0" err="1"/>
              <a:t>venv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.\</a:t>
            </a:r>
            <a:r>
              <a:rPr lang="en-US" dirty="0" err="1"/>
              <a:t>venv</a:t>
            </a:r>
            <a:r>
              <a:rPr lang="en-US" dirty="0"/>
              <a:t>\Scripts\activate</a:t>
            </a:r>
          </a:p>
          <a:p>
            <a:r>
              <a:rPr lang="en-US" dirty="0"/>
              <a:t>Add dependencies</a:t>
            </a:r>
          </a:p>
          <a:p>
            <a:pPr marL="457200" lvl="1" indent="0">
              <a:buNone/>
            </a:pPr>
            <a:r>
              <a:rPr lang="en-US" dirty="0"/>
              <a:t>python -m pip install Flask</a:t>
            </a:r>
          </a:p>
        </p:txBody>
      </p:sp>
    </p:spTree>
    <p:extLst>
      <p:ext uri="{BB962C8B-B14F-4D97-AF65-F5344CB8AC3E}">
        <p14:creationId xmlns:p14="http://schemas.microsoft.com/office/powerpoint/2010/main" val="733775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DAD50-73C7-B39C-6A03-075D4C570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Initiate the Flask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FEA81-486B-2996-F986-989434A32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1912"/>
            <a:ext cx="10515600" cy="4910963"/>
          </a:xfrm>
        </p:spPr>
        <p:txBody>
          <a:bodyPr/>
          <a:lstStyle/>
          <a:p>
            <a:r>
              <a:rPr lang="en-US" dirty="0"/>
              <a:t>Create </a:t>
            </a:r>
            <a:r>
              <a:rPr lang="en-US" b="1" dirty="0"/>
              <a:t>development server</a:t>
            </a:r>
            <a:r>
              <a:rPr lang="en-US" dirty="0"/>
              <a:t> and display “Hello World!“ in the browser.</a:t>
            </a:r>
          </a:p>
          <a:p>
            <a:r>
              <a:rPr lang="en-US" dirty="0"/>
              <a:t>Create a file named </a:t>
            </a:r>
            <a:r>
              <a:rPr lang="en-US" b="1" dirty="0"/>
              <a:t>app.py </a:t>
            </a:r>
            <a:r>
              <a:rPr lang="en-US" dirty="0"/>
              <a:t>inside </a:t>
            </a:r>
            <a:r>
              <a:rPr lang="en-US" b="1" dirty="0" err="1"/>
              <a:t>FlaskExample</a:t>
            </a:r>
            <a:r>
              <a:rPr lang="en-US" dirty="0"/>
              <a:t> folder and type in the below code.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F781BE-2F57-27F9-40AF-0BAF24860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668" y="3319272"/>
            <a:ext cx="6658904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292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A1507-CB83-0857-8476-0E01AE2CC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168" y="2419985"/>
            <a:ext cx="10515600" cy="1694816"/>
          </a:xfrm>
        </p:spPr>
        <p:txBody>
          <a:bodyPr/>
          <a:lstStyle/>
          <a:p>
            <a:r>
              <a:rPr lang="en-US" dirty="0"/>
              <a:t>Functions like </a:t>
            </a:r>
            <a:r>
              <a:rPr lang="en-US" b="1" dirty="0" err="1"/>
              <a:t>hello_world</a:t>
            </a:r>
            <a:r>
              <a:rPr lang="en-US" b="1" dirty="0"/>
              <a:t>() </a:t>
            </a:r>
            <a:r>
              <a:rPr lang="en-US" dirty="0"/>
              <a:t>are called </a:t>
            </a:r>
            <a:r>
              <a:rPr lang="en-US" b="1" dirty="0"/>
              <a:t>views </a:t>
            </a:r>
            <a:r>
              <a:rPr lang="en-US" dirty="0"/>
              <a:t>in Flask.  </a:t>
            </a:r>
          </a:p>
          <a:p>
            <a:r>
              <a:rPr lang="en-US" dirty="0"/>
              <a:t>Run this file.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991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C7D53-B1A7-17B7-D400-F3F731605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Adding Package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6A38E-5658-220B-F92D-B7D87E894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a folder named </a:t>
            </a:r>
            <a:r>
              <a:rPr lang="en-US" b="1" dirty="0"/>
              <a:t>“</a:t>
            </a:r>
            <a:r>
              <a:rPr lang="en-US" b="1" dirty="0" err="1"/>
              <a:t>EnviornmentMonitor</a:t>
            </a:r>
            <a:r>
              <a:rPr lang="en-US" b="1" dirty="0"/>
              <a:t>” </a:t>
            </a:r>
            <a:r>
              <a:rPr lang="en-US" dirty="0"/>
              <a:t>inside </a:t>
            </a:r>
            <a:r>
              <a:rPr lang="en-US" b="1" dirty="0" err="1"/>
              <a:t>FlaskExample</a:t>
            </a:r>
            <a:endParaRPr lang="en-US" b="1" dirty="0"/>
          </a:p>
          <a:p>
            <a:r>
              <a:rPr lang="en-US" dirty="0"/>
              <a:t>Move the </a:t>
            </a:r>
            <a:r>
              <a:rPr lang="en-US" b="1" dirty="0"/>
              <a:t>app.py </a:t>
            </a:r>
            <a:r>
              <a:rPr lang="en-US" dirty="0"/>
              <a:t>into </a:t>
            </a:r>
            <a:r>
              <a:rPr lang="en-US" b="1" dirty="0" err="1"/>
              <a:t>EnviornmentMonitor</a:t>
            </a:r>
            <a:endParaRPr lang="en-US" b="1" dirty="0"/>
          </a:p>
          <a:p>
            <a:r>
              <a:rPr lang="en-US" dirty="0"/>
              <a:t>Rename </a:t>
            </a:r>
            <a:r>
              <a:rPr lang="en-US" b="1" dirty="0"/>
              <a:t>app.py </a:t>
            </a:r>
            <a:r>
              <a:rPr lang="en-US" dirty="0"/>
              <a:t>into </a:t>
            </a:r>
            <a:r>
              <a:rPr lang="en-US" b="1" dirty="0"/>
              <a:t>__init__.py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dirty="0" err="1"/>
              <a:t>FlaskExample</a:t>
            </a:r>
            <a:r>
              <a:rPr lang="en-US" dirty="0"/>
              <a:t>/</a:t>
            </a:r>
          </a:p>
          <a:p>
            <a:pPr marL="457200" lvl="1" indent="0">
              <a:buNone/>
            </a:pPr>
            <a:r>
              <a:rPr lang="en-US" dirty="0"/>
              <a:t>│</a:t>
            </a:r>
          </a:p>
          <a:p>
            <a:pPr marL="457200" lvl="1" indent="0">
              <a:buNone/>
            </a:pPr>
            <a:r>
              <a:rPr lang="en-US" dirty="0"/>
              <a:t>└── </a:t>
            </a:r>
            <a:r>
              <a:rPr lang="en-US" dirty="0" err="1"/>
              <a:t>Environement</a:t>
            </a:r>
            <a:r>
              <a:rPr lang="en-US" dirty="0"/>
              <a:t> Monitor/</a:t>
            </a:r>
          </a:p>
          <a:p>
            <a:pPr marL="457200" lvl="1" indent="0">
              <a:buNone/>
            </a:pPr>
            <a:r>
              <a:rPr lang="en-US" dirty="0"/>
              <a:t>    └── __init__.py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199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A4613-6079-A875-E782-220FBCDA7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9536"/>
            <a:ext cx="10515600" cy="5317427"/>
          </a:xfrm>
        </p:spPr>
        <p:txBody>
          <a:bodyPr/>
          <a:lstStyle/>
          <a:p>
            <a:r>
              <a:rPr lang="en-US" dirty="0"/>
              <a:t>Run the Flask project using the below command.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python -m flask --app </a:t>
            </a:r>
            <a:r>
              <a:rPr lang="en-US" b="1" dirty="0" err="1"/>
              <a:t>EnvironementMonitor</a:t>
            </a:r>
            <a:r>
              <a:rPr lang="en-US" b="1" dirty="0"/>
              <a:t> run --port 8000 –debug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You’re telling Flask to look for an app named </a:t>
            </a:r>
            <a:r>
              <a:rPr lang="en-US" b="1" dirty="0"/>
              <a:t> </a:t>
            </a:r>
            <a:r>
              <a:rPr lang="en-US" b="1" dirty="0" err="1"/>
              <a:t>EnvironementMonitor</a:t>
            </a:r>
            <a:r>
              <a:rPr lang="en-US" b="1" dirty="0"/>
              <a:t> </a:t>
            </a:r>
            <a:r>
              <a:rPr lang="en-US" dirty="0"/>
              <a:t> and serve it in debug mode on port 8000</a:t>
            </a:r>
          </a:p>
          <a:p>
            <a:endParaRPr lang="en-US" b="1" dirty="0"/>
          </a:p>
          <a:p>
            <a:r>
              <a:rPr lang="en-US" dirty="0"/>
              <a:t>visit </a:t>
            </a:r>
            <a:r>
              <a:rPr lang="en-US" b="1" dirty="0"/>
              <a:t>http://localhost:8000</a:t>
            </a:r>
          </a:p>
        </p:txBody>
      </p:sp>
    </p:spTree>
    <p:extLst>
      <p:ext uri="{BB962C8B-B14F-4D97-AF65-F5344CB8AC3E}">
        <p14:creationId xmlns:p14="http://schemas.microsoft.com/office/powerpoint/2010/main" val="1358710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EABF6-BB16-4F6F-83BC-71B8541BD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Application Factory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84743-67A6-1F49-5F3E-35AE2FED2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 </a:t>
            </a:r>
            <a:r>
              <a:rPr lang="en-US" b="1" dirty="0"/>
              <a:t>application factory</a:t>
            </a:r>
            <a:r>
              <a:rPr lang="en-US" dirty="0"/>
              <a:t> in Flask is a design pattern that’s highly beneficial for scaling Flask projects.</a:t>
            </a:r>
          </a:p>
          <a:p>
            <a:endParaRPr lang="en-US" dirty="0"/>
          </a:p>
          <a:p>
            <a:r>
              <a:rPr lang="en-US" dirty="0"/>
              <a:t>Instead of having your application’s code at the root level of your __init__.py file, you’ll work with a function that returns your application.</a:t>
            </a:r>
          </a:p>
        </p:txBody>
      </p:sp>
    </p:spTree>
    <p:extLst>
      <p:ext uri="{BB962C8B-B14F-4D97-AF65-F5344CB8AC3E}">
        <p14:creationId xmlns:p14="http://schemas.microsoft.com/office/powerpoint/2010/main" val="3953275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849C8-8105-68B7-72B2-BE02C9F6D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Application Factory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0E0C4-845D-0487-6220-E06821E21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150"/>
            <a:ext cx="10515600" cy="4351338"/>
          </a:xfrm>
        </p:spPr>
        <p:txBody>
          <a:bodyPr/>
          <a:lstStyle/>
          <a:p>
            <a:r>
              <a:rPr lang="en-US" dirty="0"/>
              <a:t>Replace the content of __init__.py with the content below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Function named </a:t>
            </a:r>
            <a:r>
              <a:rPr lang="en-US" b="1" dirty="0" err="1"/>
              <a:t>create_app</a:t>
            </a:r>
            <a:r>
              <a:rPr lang="en-US" b="1" dirty="0"/>
              <a:t>() </a:t>
            </a:r>
            <a:r>
              <a:rPr lang="en-US" dirty="0"/>
              <a:t>initializes the </a:t>
            </a:r>
            <a:r>
              <a:rPr lang="en-US" b="1" dirty="0"/>
              <a:t>app</a:t>
            </a:r>
            <a:r>
              <a:rPr lang="en-US" dirty="0"/>
              <a:t> and returns it.</a:t>
            </a:r>
          </a:p>
          <a:p>
            <a:r>
              <a:rPr lang="en-US" dirty="0"/>
              <a:t> The </a:t>
            </a:r>
            <a:r>
              <a:rPr lang="en-US" dirty="0" err="1"/>
              <a:t>create_app</a:t>
            </a:r>
            <a:r>
              <a:rPr lang="en-US" dirty="0"/>
              <a:t>() function is your application factory.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103460-C2E7-2E8B-0CA0-2522B0767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313" y="2514442"/>
            <a:ext cx="3391373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048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FC1441-7CEC-D0FF-32BE-82DBA79D2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4800" b="1"/>
              <a:t>Blueprints</a:t>
            </a:r>
            <a:br>
              <a:rPr lang="en-US" sz="4800" b="1"/>
            </a:br>
            <a:endParaRPr lang="en-US" sz="48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D488F-0AB7-2F35-4013-D624D0345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US" sz="1500"/>
              <a:t>Blueprints are modules that contain related views that you can conveniently import in </a:t>
            </a:r>
            <a:r>
              <a:rPr lang="en-US" sz="1500" b="1"/>
              <a:t>__init__.py</a:t>
            </a:r>
          </a:p>
          <a:p>
            <a:r>
              <a:rPr lang="en-US" sz="1500"/>
              <a:t>Create </a:t>
            </a:r>
            <a:r>
              <a:rPr lang="en-US" sz="1500" b="1"/>
              <a:t>blueprints</a:t>
            </a:r>
            <a:r>
              <a:rPr lang="en-US" sz="1500"/>
              <a:t> that you register in your application factory.</a:t>
            </a:r>
          </a:p>
          <a:p>
            <a:r>
              <a:rPr lang="en-US" sz="1500"/>
              <a:t>Create a file named </a:t>
            </a:r>
            <a:r>
              <a:rPr lang="en-US" sz="1500" b="1"/>
              <a:t>pages.py </a:t>
            </a:r>
            <a:r>
              <a:rPr lang="en-US" sz="1500"/>
              <a:t>in the </a:t>
            </a:r>
            <a:r>
              <a:rPr lang="en-US" sz="1500" b="1"/>
              <a:t>EnvironmentMonitor/</a:t>
            </a:r>
            <a:r>
              <a:rPr lang="en-US" sz="1500"/>
              <a:t> folder and add the content below</a:t>
            </a:r>
            <a:endParaRPr lang="en-US" sz="1500" b="1"/>
          </a:p>
          <a:p>
            <a:endParaRPr lang="en-US" sz="1500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A918FD-0286-61DE-28EB-9EAAEF245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291736"/>
            <a:ext cx="10917936" cy="395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592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FD429-263C-96B0-0206-BA7F92DE6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7750"/>
            <a:ext cx="10515600" cy="5129213"/>
          </a:xfrm>
        </p:spPr>
        <p:txBody>
          <a:bodyPr/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Bp </a:t>
            </a:r>
            <a:r>
              <a:rPr lang="en-US" dirty="0"/>
              <a:t>is an instance of Blueprint.</a:t>
            </a:r>
          </a:p>
          <a:p>
            <a:r>
              <a:rPr lang="en-US" dirty="0"/>
              <a:t>The first argument, "pages", is the name of your blueprint.</a:t>
            </a:r>
          </a:p>
          <a:p>
            <a:r>
              <a:rPr lang="en-US" dirty="0"/>
              <a:t>You’ll use this name to identify this particular blueprint in your Flask project.</a:t>
            </a:r>
          </a:p>
          <a:p>
            <a:r>
              <a:rPr lang="en-US" dirty="0"/>
              <a:t>The second argument is the blueprint’s __name__.</a:t>
            </a:r>
          </a:p>
          <a:p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5C5849-3C58-6F69-0B11-A323706F2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426" y="1861566"/>
            <a:ext cx="4725059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606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DD706E-A22F-E096-E3D2-232C1793E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US" sz="3200" b="1"/>
              <a:t>Leverage Blueprints</a:t>
            </a:r>
            <a:br>
              <a:rPr lang="en-US" sz="3200" b="1"/>
            </a:br>
            <a:endParaRPr lang="en-US" sz="32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4CCAA-6313-149C-C6C9-DAD279B26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en-US" sz="1600" b="1" dirty="0"/>
              <a:t>Blueprints </a:t>
            </a:r>
            <a:r>
              <a:rPr lang="en-US" sz="1600" dirty="0"/>
              <a:t> are modules that contain related views that you can conveniently import in __init__.py</a:t>
            </a:r>
            <a:endParaRPr lang="en-US" sz="1600" b="1" dirty="0"/>
          </a:p>
          <a:p>
            <a:r>
              <a:rPr lang="en-US" sz="1600" dirty="0"/>
              <a:t>Create a file named pages.py in the board/ folder and add the content below:</a:t>
            </a:r>
          </a:p>
          <a:p>
            <a:pPr marL="0" indent="0">
              <a:buNone/>
            </a:pPr>
            <a:br>
              <a:rPr lang="en-US" sz="1300" b="1" dirty="0"/>
            </a:br>
            <a:endParaRPr lang="en-US" sz="1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1FCFAD-3A0E-E0E7-4FFF-27B5BBED2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43" y="2734056"/>
            <a:ext cx="10025506" cy="34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885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08EC7-4C91-11AA-DB3A-79D4D7A47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" y="2336800"/>
            <a:ext cx="10515600" cy="1325563"/>
          </a:xfrm>
        </p:spPr>
        <p:txBody>
          <a:bodyPr/>
          <a:lstStyle/>
          <a:p>
            <a:r>
              <a:rPr lang="en-US" dirty="0"/>
              <a:t>visit </a:t>
            </a:r>
            <a:r>
              <a:rPr lang="en-US" i="1" dirty="0"/>
              <a:t>http://localhost:8000/about</a:t>
            </a:r>
          </a:p>
        </p:txBody>
      </p:sp>
    </p:spTree>
    <p:extLst>
      <p:ext uri="{BB962C8B-B14F-4D97-AF65-F5344CB8AC3E}">
        <p14:creationId xmlns:p14="http://schemas.microsoft.com/office/powerpoint/2010/main" val="1692147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6A9C-EAEC-7703-E9D1-9613CE815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Templates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1B54B-4767-26A6-E130-D908EB0BB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Templates are </a:t>
            </a:r>
            <a:r>
              <a:rPr lang="en-US" dirty="0">
                <a:hlinkClick r:id="rId2"/>
              </a:rPr>
              <a:t>HTML</a:t>
            </a:r>
            <a:r>
              <a:rPr lang="en-US" dirty="0"/>
              <a:t> files with the capability of rendering dynamic content sent over from your Flask views. </a:t>
            </a:r>
          </a:p>
          <a:p>
            <a:endParaRPr lang="en-US" dirty="0"/>
          </a:p>
          <a:p>
            <a:r>
              <a:rPr lang="en-US" dirty="0"/>
              <a:t>Flask uses the popular Jinja </a:t>
            </a:r>
            <a:r>
              <a:rPr lang="en-US" b="1" dirty="0"/>
              <a:t>template engine</a:t>
            </a:r>
            <a:r>
              <a:rPr lang="en-US" dirty="0"/>
              <a:t>, which you already installed as a dependency when you installed Flask.</a:t>
            </a:r>
          </a:p>
          <a:p>
            <a:endParaRPr lang="en-US" dirty="0"/>
          </a:p>
          <a:p>
            <a:r>
              <a:rPr lang="en-US" dirty="0"/>
              <a:t>With a template engine like Jinja, you can embed Python-like expressions into your templates to create dynamic web content</a:t>
            </a:r>
          </a:p>
          <a:p>
            <a:endParaRPr lang="en-US" dirty="0"/>
          </a:p>
          <a:p>
            <a:r>
              <a:rPr lang="en-US" dirty="0"/>
              <a:t>Jinja also supports </a:t>
            </a:r>
            <a:r>
              <a:rPr lang="en-US" b="1" dirty="0"/>
              <a:t>template inheritance</a:t>
            </a:r>
            <a:r>
              <a:rPr lang="en-US" dirty="0"/>
              <a:t>, allowing the creation of a </a:t>
            </a:r>
            <a:r>
              <a:rPr lang="en-US" b="1" dirty="0"/>
              <a:t>base template</a:t>
            </a:r>
            <a:r>
              <a:rPr lang="en-US" dirty="0"/>
              <a:t> that you can extend in </a:t>
            </a:r>
            <a:r>
              <a:rPr lang="en-US" b="1" dirty="0"/>
              <a:t>child templates.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81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652A5-BB4F-320E-96C3-EEAECCDDD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216" y="1828801"/>
            <a:ext cx="10515600" cy="2423160"/>
          </a:xfrm>
        </p:spPr>
        <p:txBody>
          <a:bodyPr/>
          <a:lstStyle/>
          <a:p>
            <a:r>
              <a:rPr lang="en-US" dirty="0"/>
              <a:t>Git Hub Repository for  the template-based Web Application code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hlinkClick r:id="rId2"/>
              </a:rPr>
              <a:t>https://github.com/nisharanipraveen/FlaskExample.git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7833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D605A-4C9D-449E-5F7D-A0A2A42A4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24" y="240423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510143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803</Words>
  <Application>Microsoft Office PowerPoint</Application>
  <PresentationFormat>Widescreen</PresentationFormat>
  <Paragraphs>113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Office Theme</vt:lpstr>
      <vt:lpstr>CLC – Day 4</vt:lpstr>
      <vt:lpstr>Database - SQLite</vt:lpstr>
      <vt:lpstr>Database With SQL </vt:lpstr>
      <vt:lpstr>Database With SQL</vt:lpstr>
      <vt:lpstr>Creating Tables With SQL </vt:lpstr>
      <vt:lpstr>SQL</vt:lpstr>
      <vt:lpstr>Python project using SQLite</vt:lpstr>
      <vt:lpstr>Creating a Flask Web Application</vt:lpstr>
      <vt:lpstr>Set up a Flask Project</vt:lpstr>
      <vt:lpstr>Initiate the Flask project</vt:lpstr>
      <vt:lpstr>PowerPoint Presentation</vt:lpstr>
      <vt:lpstr>Adding Package structure</vt:lpstr>
      <vt:lpstr>PowerPoint Presentation</vt:lpstr>
      <vt:lpstr>Application Factory </vt:lpstr>
      <vt:lpstr>Application Factory </vt:lpstr>
      <vt:lpstr>Blueprints </vt:lpstr>
      <vt:lpstr>PowerPoint Presentation</vt:lpstr>
      <vt:lpstr>Leverage Blueprints </vt:lpstr>
      <vt:lpstr>visit http://localhost:8000/about</vt:lpstr>
      <vt:lpstr>Templates </vt:lpstr>
      <vt:lpstr>PowerPoint Presentation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Nisharani Praveen</dc:creator>
  <cp:lastModifiedBy>Nisharani Praveen</cp:lastModifiedBy>
  <cp:revision>2</cp:revision>
  <dcterms:created xsi:type="dcterms:W3CDTF">2026-04-02T18:19:15Z</dcterms:created>
  <dcterms:modified xsi:type="dcterms:W3CDTF">2026-04-02T19:58:31Z</dcterms:modified>
</cp:coreProperties>
</file>